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4" r:id="rId6"/>
    <p:sldId id="275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面向对象程序设计</a:t>
            </a:r>
            <a:br>
              <a:rPr lang="zh-CN" altLang="zh-CN"/>
            </a:br>
            <a:r>
              <a:rPr lang="zh-CN" altLang="zh-CN"/>
              <a:t>第一次汇报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宋新泉</a:t>
            </a:r>
            <a:r>
              <a:rPr lang="en-US" altLang="zh-CN"/>
              <a:t>2023K8009929009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项目和模块</a:t>
            </a:r>
            <a:r>
              <a:rPr lang="zh-CN" altLang="en-US"/>
              <a:t>选择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本作业的选题是</a:t>
            </a:r>
            <a:r>
              <a:rPr lang="en-US" altLang="zh-CN"/>
              <a:t>Hugging Face Transformer</a:t>
            </a:r>
            <a:r>
              <a:rPr lang="zh-CN" altLang="en-US"/>
              <a:t>的</a:t>
            </a:r>
            <a:r>
              <a:rPr lang="en-US" altLang="zh-CN"/>
              <a:t>Pipelines</a:t>
            </a:r>
            <a:r>
              <a:rPr lang="zh-CN" altLang="en-US"/>
              <a:t>模块。</a:t>
            </a:r>
            <a:endParaRPr lang="zh-CN" altLang="en-US"/>
          </a:p>
          <a:p>
            <a:r>
              <a:rPr lang="en-US" altLang="zh-CN">
                <a:sym typeface="+mn-ea"/>
              </a:rPr>
              <a:t>Hugging Face Transformer</a:t>
            </a:r>
            <a:r>
              <a:rPr lang="zh-CN" altLang="en-US">
                <a:sym typeface="+mn-ea"/>
              </a:rPr>
              <a:t>简介：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Hugging Face Transformer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github</a:t>
            </a:r>
            <a:r>
              <a:rPr lang="zh-CN" altLang="en-US">
                <a:sym typeface="+mn-ea"/>
              </a:rPr>
              <a:t>上的开源项目，是一个为</a:t>
            </a:r>
            <a:r>
              <a:rPr lang="en-US" altLang="zh-CN">
                <a:sym typeface="+mn-ea"/>
              </a:rPr>
              <a:t> Jax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PyTorch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TensorFlow </a:t>
            </a:r>
            <a:r>
              <a:rPr lang="zh-CN" altLang="en-US">
                <a:sym typeface="+mn-ea"/>
              </a:rPr>
              <a:t>打造的先进自然语言处理（</a:t>
            </a:r>
            <a:r>
              <a:rPr lang="en-US" altLang="zh-CN">
                <a:sym typeface="+mn-ea"/>
              </a:rPr>
              <a:t>NLP</a:t>
            </a:r>
            <a:r>
              <a:rPr lang="zh-CN" altLang="en-US">
                <a:sym typeface="+mn-ea"/>
              </a:rPr>
              <a:t>）函数库。其设计宗旨，是降低先进</a:t>
            </a:r>
            <a:r>
              <a:rPr lang="en-US" altLang="zh-CN">
                <a:sym typeface="+mn-ea"/>
              </a:rPr>
              <a:t> NLP </a:t>
            </a:r>
            <a:r>
              <a:rPr lang="zh-CN" altLang="en-US">
                <a:sym typeface="+mn-ea"/>
              </a:rPr>
              <a:t>技术的使用门槛，并促进模型在社区内的共享和协作。它提供了丰富的预训练模型，易用的</a:t>
            </a:r>
            <a:r>
              <a:rPr lang="en-US" altLang="zh-CN">
                <a:sym typeface="+mn-ea"/>
              </a:rPr>
              <a:t>API</a:t>
            </a:r>
            <a:r>
              <a:rPr lang="zh-CN" altLang="en-US">
                <a:sym typeface="+mn-ea"/>
              </a:rPr>
              <a:t>，便于研究实验的</a:t>
            </a:r>
            <a:r>
              <a:rPr lang="en-US" altLang="zh-CN">
                <a:sym typeface="+mn-ea"/>
              </a:rPr>
              <a:t>python</a:t>
            </a:r>
            <a:r>
              <a:rPr lang="zh-CN" altLang="en-US">
                <a:sym typeface="+mn-ea"/>
              </a:rPr>
              <a:t>独立模块化设计。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什么是</a:t>
            </a:r>
            <a:r>
              <a:rPr lang="en-US" altLang="zh-CN">
                <a:sym typeface="+mn-ea"/>
              </a:rPr>
              <a:t>Pipelines: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Pipelines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Transformers</a:t>
            </a:r>
            <a:r>
              <a:rPr lang="zh-CN" altLang="en-US">
                <a:sym typeface="+mn-ea"/>
              </a:rPr>
              <a:t>库中的一个高级抽象层，它的主要目标是：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简化模型使用流程，隐藏复杂细节，让用户用最少的代码实现</a:t>
            </a:r>
            <a:r>
              <a:rPr lang="en-US" altLang="zh-CN">
                <a:sym typeface="+mn-ea"/>
              </a:rPr>
              <a:t>NLP</a:t>
            </a:r>
            <a:r>
              <a:rPr lang="zh-CN" altLang="en-US">
                <a:sym typeface="+mn-ea"/>
              </a:rPr>
              <a:t>任务</a:t>
            </a:r>
            <a:r>
              <a:rPr lang="en-US" altLang="zh-CN">
                <a:sym typeface="+mn-ea"/>
              </a:rPr>
              <a:t>.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扩展点：缓存优化实现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以现有的</a:t>
            </a:r>
            <a:r>
              <a:rPr lang="en-US" altLang="zh-CN"/>
              <a:t>PipelineIterator</a:t>
            </a:r>
            <a:r>
              <a:rPr lang="zh-CN" altLang="en-US"/>
              <a:t>为基础，实现一个新的</a:t>
            </a:r>
            <a:r>
              <a:rPr lang="en-US" altLang="zh-CN"/>
              <a:t>CachedPipelineIterator</a:t>
            </a:r>
            <a:r>
              <a:rPr lang="zh-CN" altLang="en-US"/>
              <a:t>类，添加输入</a:t>
            </a:r>
            <a:r>
              <a:rPr lang="en-US" altLang="zh-CN"/>
              <a:t>/</a:t>
            </a:r>
            <a:r>
              <a:rPr lang="zh-CN" altLang="en-US"/>
              <a:t>输出缓存机制</a:t>
            </a:r>
            <a:endParaRPr lang="zh-CN" altLang="en-US"/>
          </a:p>
          <a:p>
            <a:r>
              <a:rPr lang="en-US" altLang="zh-CN">
                <a:sym typeface="+mn-ea"/>
              </a:rPr>
              <a:t>PipelineIterator</a:t>
            </a:r>
            <a:r>
              <a:rPr lang="zh-CN" altLang="en-US">
                <a:sym typeface="+mn-ea"/>
              </a:rPr>
              <a:t>：迭代器，实现数据处理</a:t>
            </a:r>
            <a:r>
              <a:rPr lang="zh-CN" altLang="en-US">
                <a:sym typeface="+mn-ea"/>
              </a:rPr>
              <a:t>流水线，将数据加载、模型推理和后处理串联起来，实现端到端的数据处理流程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现有的</a:t>
            </a:r>
            <a:r>
              <a:rPr lang="en-US" altLang="zh-CN">
                <a:sym typeface="+mn-ea"/>
              </a:rPr>
              <a:t>PipelineIterator</a:t>
            </a:r>
            <a:r>
              <a:rPr lang="zh-CN" altLang="en-US">
                <a:sym typeface="+mn-ea"/>
              </a:rPr>
              <a:t>缺少缓存机制，每次处理相同输入时，都会重新运行一系列</a:t>
            </a:r>
            <a:r>
              <a:rPr lang="zh-CN" altLang="en-US">
                <a:sym typeface="+mn-ea"/>
              </a:rPr>
              <a:t>处理流程，造成计算资源浪费。</a:t>
            </a:r>
            <a:endParaRPr lang="zh-CN" altLang="en-US"/>
          </a:p>
          <a:p>
            <a:r>
              <a:rPr lang="zh-CN" altLang="en-US">
                <a:sym typeface="+mn-ea"/>
              </a:rPr>
              <a:t>在实际交互中，重复信息的查询请求经常发生，每次都重新运算需要耗费时间，也影响内存的</a:t>
            </a:r>
            <a:r>
              <a:rPr lang="zh-CN" altLang="en-US">
                <a:sym typeface="+mn-ea"/>
              </a:rPr>
              <a:t>使用效率。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扩展设计目标是提升性能，优化资源利用，改善用户体验，并提供灵活的</a:t>
            </a:r>
            <a:r>
              <a:rPr lang="zh-CN" altLang="en-US">
                <a:sym typeface="+mn-ea"/>
              </a:rPr>
              <a:t>配置选项。</a:t>
            </a: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需求分析与建模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功能需求</a:t>
            </a:r>
            <a:endParaRPr lang="zh-CN" altLang="en-US"/>
          </a:p>
          <a:p>
            <a:r>
              <a:rPr lang="zh-CN" altLang="en-US"/>
              <a:t>创建一个新的</a:t>
            </a:r>
            <a:r>
              <a:rPr lang="en-US" altLang="zh-CN"/>
              <a:t> CachedPipelineIterator </a:t>
            </a:r>
            <a:r>
              <a:rPr lang="zh-CN" altLang="en-US"/>
              <a:t>类，继承自现有的</a:t>
            </a:r>
            <a:r>
              <a:rPr lang="en-US" altLang="zh-CN"/>
              <a:t> PipelineIterator </a:t>
            </a:r>
            <a:r>
              <a:rPr lang="zh-CN" altLang="en-US"/>
              <a:t>，添加输入</a:t>
            </a:r>
            <a:r>
              <a:rPr lang="en-US" altLang="zh-CN"/>
              <a:t>/</a:t>
            </a:r>
            <a:r>
              <a:rPr lang="zh-CN" altLang="en-US"/>
              <a:t>输出缓存机制</a:t>
            </a:r>
            <a:endParaRPr lang="zh-CN" altLang="en-US"/>
          </a:p>
          <a:p>
            <a:r>
              <a:rPr lang="zh-CN" altLang="en-US"/>
              <a:t>能够根据输入内容和参数生成唯一的缓存键</a:t>
            </a:r>
            <a:endParaRPr lang="zh-CN" altLang="en-US"/>
          </a:p>
          <a:p>
            <a:r>
              <a:rPr lang="zh-CN" altLang="en-US"/>
              <a:t>提供缓存大小限制、过期策略和手动清除功能</a:t>
            </a:r>
            <a:endParaRPr lang="zh-CN" altLang="en-US"/>
          </a:p>
          <a:p>
            <a:r>
              <a:rPr lang="zh-CN" altLang="en-US"/>
              <a:t>缓存命中率跟踪，用于性能监控</a:t>
            </a:r>
            <a:endParaRPr lang="zh-CN" altLang="en-US"/>
          </a:p>
          <a:p>
            <a:r>
              <a:rPr lang="zh-CN" altLang="en-US"/>
              <a:t>与现有</a:t>
            </a:r>
            <a:r>
              <a:rPr lang="en-US" altLang="zh-CN"/>
              <a:t>Pipeline</a:t>
            </a:r>
            <a:r>
              <a:rPr lang="zh-CN" altLang="en-US"/>
              <a:t>框架集成，对用户</a:t>
            </a:r>
            <a:r>
              <a:rPr lang="en-US" altLang="zh-CN"/>
              <a:t>API</a:t>
            </a:r>
            <a:r>
              <a:rPr lang="zh-CN" altLang="en-US"/>
              <a:t>保持兼容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需求分析与建模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2. </a:t>
            </a:r>
            <a:r>
              <a:rPr lang="zh-CN" altLang="en-US"/>
              <a:t>非功能需求</a:t>
            </a:r>
            <a:endParaRPr lang="zh-CN" altLang="en-US"/>
          </a:p>
          <a:p>
            <a:r>
              <a:rPr lang="zh-CN" altLang="en-US"/>
              <a:t>对于重复输入，处理速度提升</a:t>
            </a:r>
            <a:endParaRPr lang="en-US" altLang="zh-CN"/>
          </a:p>
          <a:p>
            <a:r>
              <a:rPr lang="zh-CN" altLang="en-US"/>
              <a:t>提供可配置的缓存大小限制，避免内存溢出</a:t>
            </a:r>
            <a:endParaRPr lang="zh-CN" altLang="en-US"/>
          </a:p>
          <a:p>
            <a:r>
              <a:rPr lang="zh-CN" altLang="en-US"/>
              <a:t>支持多线程环境下的并发访问</a:t>
            </a:r>
            <a:endParaRPr lang="zh-CN" altLang="en-US"/>
          </a:p>
          <a:p>
            <a:r>
              <a:rPr lang="zh-CN" altLang="en-US"/>
              <a:t>可扩展性</a:t>
            </a:r>
            <a:endParaRPr lang="zh-CN" altLang="en-US"/>
          </a:p>
          <a:p>
            <a:r>
              <a:rPr lang="zh-CN" altLang="en-US"/>
              <a:t>不影响现有功能，默认情况下可选启用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用例分析</a:t>
            </a:r>
            <a:r>
              <a:rPr lang="en-US" altLang="zh-CN"/>
              <a:t>1</a:t>
            </a:r>
            <a:r>
              <a:rPr lang="zh-CN" altLang="en-US"/>
              <a:t>：文本分类批处理优化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用例名称</a:t>
            </a:r>
            <a:r>
              <a:rPr lang="en-US" altLang="zh-CN"/>
              <a:t> </a:t>
            </a:r>
            <a:r>
              <a:rPr lang="zh-CN" altLang="en-US"/>
              <a:t>：重复文本分类批处理缓存</a:t>
            </a:r>
            <a:endParaRPr lang="en-US" altLang="zh-CN"/>
          </a:p>
          <a:p>
            <a:r>
              <a:rPr lang="zh-CN" altLang="en-US"/>
              <a:t>参与者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zh-CN" altLang="en-US"/>
              <a:t>用户、</a:t>
            </a:r>
            <a:r>
              <a:rPr lang="en-US" altLang="zh-CN"/>
              <a:t>NLP</a:t>
            </a:r>
            <a:r>
              <a:rPr lang="zh-CN" altLang="en-US"/>
              <a:t>应用开发者、</a:t>
            </a:r>
            <a:r>
              <a:rPr lang="en-US" altLang="zh-CN"/>
              <a:t>TextClassificationPipeline</a:t>
            </a:r>
            <a:endParaRPr lang="en-US" altLang="zh-CN"/>
          </a:p>
          <a:p>
            <a:r>
              <a:rPr lang="zh-CN" altLang="en-US"/>
              <a:t>前置条件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存在重复的文本输入数据需要进行分类处理</a:t>
            </a:r>
            <a:endParaRPr lang="zh-CN" altLang="en-US"/>
          </a:p>
          <a:p>
            <a:r>
              <a:rPr lang="zh-CN" altLang="en-US"/>
              <a:t>系统已配置</a:t>
            </a:r>
            <a:r>
              <a:rPr lang="en-US" altLang="zh-CN"/>
              <a:t>CacheManager</a:t>
            </a:r>
            <a:r>
              <a:rPr lang="zh-CN" altLang="en-US"/>
              <a:t>组件并设置适当的缓存大小</a:t>
            </a:r>
            <a:endParaRPr lang="zh-CN" altLang="en-US"/>
          </a:p>
          <a:p>
            <a:r>
              <a:rPr lang="zh-CN" altLang="en-US"/>
              <a:t>已加载预训练的文本分类模型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用例分析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：文本分类批处理优化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主要流程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用户准备包含重复文本的数据批次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调用</a:t>
            </a:r>
            <a:r>
              <a:rPr lang="en-US" altLang="zh-CN"/>
              <a:t>TextClassificationPipeline</a:t>
            </a:r>
            <a:r>
              <a:rPr lang="zh-CN" altLang="en-US"/>
              <a:t>处理数据批次</a:t>
            </a:r>
            <a:endParaRPr lang="zh-CN" altLang="en-US"/>
          </a:p>
          <a:p>
            <a:r>
              <a:rPr lang="en-US" altLang="zh-CN"/>
              <a:t>3. CachedPipelineIterator</a:t>
            </a:r>
            <a:r>
              <a:rPr lang="zh-CN" altLang="en-US"/>
              <a:t>初始化，接收预处理后的数据集和批处理参数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对于每个输入文本，</a:t>
            </a:r>
            <a:r>
              <a:rPr lang="en-US" altLang="zh-CN"/>
              <a:t>CachedPipelineIterator</a:t>
            </a:r>
            <a:r>
              <a:rPr lang="zh-CN" altLang="en-US"/>
              <a:t>计算唯一缓存键</a:t>
            </a:r>
            <a:endParaRPr lang="zh-CN" altLang="en-US"/>
          </a:p>
          <a:p>
            <a:r>
              <a:rPr lang="en-US" altLang="zh-CN"/>
              <a:t>5. </a:t>
            </a:r>
            <a:r>
              <a:rPr lang="zh-CN" altLang="en-US"/>
              <a:t>检查缓存中是否存在该文本的处理结果</a:t>
            </a:r>
            <a:endParaRPr lang="zh-CN" altLang="en-US"/>
          </a:p>
          <a:p>
            <a:r>
              <a:rPr lang="en-US" altLang="zh-CN"/>
              <a:t>6. </a:t>
            </a:r>
            <a:r>
              <a:rPr lang="zh-CN" altLang="en-US"/>
              <a:t>若缓存命中，直接返回缓存结果；若未命中，调用模型处理并缓存结果</a:t>
            </a:r>
            <a:endParaRPr lang="zh-CN" altLang="en-US"/>
          </a:p>
          <a:p>
            <a:r>
              <a:rPr lang="en-US" altLang="zh-CN"/>
              <a:t>7. </a:t>
            </a:r>
            <a:r>
              <a:rPr lang="zh-CN" altLang="en-US"/>
              <a:t>收集所有处理结果并返回给用户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用例分析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：文本分类批处理优化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替代流程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缓存已满时：根据</a:t>
            </a:r>
            <a:r>
              <a:rPr lang="en-US" altLang="zh-CN"/>
              <a:t>LRU</a:t>
            </a:r>
            <a:r>
              <a:rPr lang="zh-CN" altLang="en-US"/>
              <a:t>策略移除最久未使用的缓存项</a:t>
            </a:r>
            <a:endParaRPr lang="zh-CN" altLang="en-US"/>
          </a:p>
          <a:p>
            <a:r>
              <a:rPr lang="zh-CN" altLang="en-US"/>
              <a:t>缓存项过期时：重新计算并更新缓存</a:t>
            </a:r>
            <a:endParaRPr lang="zh-CN" altLang="en-US"/>
          </a:p>
          <a:p>
            <a:r>
              <a:rPr lang="zh-CN" altLang="en-US"/>
              <a:t>内存不足时：触发缓存清理机制，释放部分缓存空间</a:t>
            </a:r>
            <a:endParaRPr lang="zh-CN" altLang="en-US"/>
          </a:p>
          <a:p>
            <a:r>
              <a:rPr lang="zh-CN" altLang="en-US"/>
              <a:t>后置条件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返回正确的文本分类结果</a:t>
            </a:r>
            <a:endParaRPr lang="zh-CN" altLang="en-US"/>
          </a:p>
          <a:p>
            <a:r>
              <a:rPr lang="zh-CN" altLang="en-US"/>
              <a:t>重复文本的处理结果已存储在缓存中</a:t>
            </a:r>
            <a:endParaRPr lang="zh-CN" altLang="en-US"/>
          </a:p>
          <a:p>
            <a:r>
              <a:rPr lang="zh-CN" altLang="en-US"/>
              <a:t>处理时间显著减少（相比无缓存情况）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：问答系统重复查询优化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用例名称</a:t>
            </a:r>
            <a:r>
              <a:rPr lang="en-US" altLang="zh-CN"/>
              <a:t> </a:t>
            </a:r>
            <a:r>
              <a:rPr lang="zh-CN" altLang="en-US"/>
              <a:t>：问答系统高频查询缓存</a:t>
            </a:r>
            <a:endParaRPr lang="en-US" altLang="zh-CN"/>
          </a:p>
          <a:p>
            <a:r>
              <a:rPr lang="zh-CN" altLang="en-US"/>
              <a:t>参与者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Web</a:t>
            </a:r>
            <a:r>
              <a:rPr lang="zh-CN" altLang="en-US"/>
              <a:t>应用服务器、</a:t>
            </a:r>
            <a:r>
              <a:rPr lang="en-US" altLang="zh-CN"/>
              <a:t>QuestionAnsweringPipeline</a:t>
            </a:r>
            <a:r>
              <a:rPr lang="zh-CN" altLang="en-US"/>
              <a:t>、用户</a:t>
            </a:r>
            <a:endParaRPr lang="en-US" altLang="zh-CN"/>
          </a:p>
          <a:p>
            <a:r>
              <a:rPr lang="zh-CN" altLang="en-US"/>
              <a:t>前置条件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Web</a:t>
            </a:r>
            <a:r>
              <a:rPr lang="zh-CN" altLang="en-US"/>
              <a:t>应用集成了</a:t>
            </a:r>
            <a:r>
              <a:rPr lang="en-US" altLang="zh-CN"/>
              <a:t>QuestionAnsweringPipeline</a:t>
            </a:r>
            <a:r>
              <a:rPr lang="zh-CN" altLang="en-US"/>
              <a:t>进行问答服务</a:t>
            </a:r>
            <a:endParaRPr lang="zh-CN" altLang="en-US"/>
          </a:p>
          <a:p>
            <a:r>
              <a:rPr lang="zh-CN" altLang="en-US"/>
              <a:t>系统存在高频重复的问题查询</a:t>
            </a:r>
            <a:endParaRPr lang="zh-CN" altLang="en-US"/>
          </a:p>
          <a:p>
            <a:r>
              <a:rPr lang="zh-CN" altLang="en-US"/>
              <a:t>缓存系统已启用并配置适当的过期策略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：问答系统重复查询优化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主要流程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用户向</a:t>
            </a:r>
            <a:r>
              <a:rPr lang="en-US" altLang="zh-CN"/>
              <a:t>Web</a:t>
            </a:r>
            <a:r>
              <a:rPr lang="zh-CN" altLang="en-US"/>
              <a:t>应用发送问题查询</a:t>
            </a:r>
            <a:endParaRPr lang="zh-CN" altLang="en-US"/>
          </a:p>
          <a:p>
            <a:r>
              <a:rPr lang="en-US" altLang="zh-CN"/>
              <a:t>2. Web</a:t>
            </a:r>
            <a:r>
              <a:rPr lang="zh-CN" altLang="en-US"/>
              <a:t>应用将问题传递给</a:t>
            </a:r>
            <a:r>
              <a:rPr lang="en-US" altLang="zh-CN"/>
              <a:t>QuestionAnsweringPipeline</a:t>
            </a:r>
            <a:endParaRPr lang="en-US" altLang="zh-CN"/>
          </a:p>
          <a:p>
            <a:r>
              <a:rPr lang="en-US" altLang="zh-CN"/>
              <a:t>3. CachedPipelineIterator</a:t>
            </a:r>
            <a:r>
              <a:rPr lang="zh-CN" altLang="en-US"/>
              <a:t>处理问题输入并生成缓存键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检查缓存中是否存在相同问题的答案</a:t>
            </a:r>
            <a:endParaRPr lang="zh-CN" altLang="en-US"/>
          </a:p>
          <a:p>
            <a:r>
              <a:rPr lang="en-US" altLang="zh-CN"/>
              <a:t>5. </a:t>
            </a:r>
            <a:r>
              <a:rPr lang="zh-CN" altLang="en-US"/>
              <a:t>若缓存命中，直接从缓存返回答案；否则执行完整的问答推理</a:t>
            </a:r>
            <a:endParaRPr lang="zh-CN" altLang="en-US"/>
          </a:p>
          <a:p>
            <a:r>
              <a:rPr lang="en-US" altLang="zh-CN"/>
              <a:t>6. </a:t>
            </a:r>
            <a:r>
              <a:rPr lang="zh-CN" altLang="en-US"/>
              <a:t>将新的问题</a:t>
            </a:r>
            <a:r>
              <a:rPr lang="en-US" altLang="zh-CN"/>
              <a:t>-</a:t>
            </a:r>
            <a:r>
              <a:rPr lang="zh-CN" altLang="en-US"/>
              <a:t>答案对存入缓存</a:t>
            </a:r>
            <a:endParaRPr lang="zh-CN" altLang="en-US"/>
          </a:p>
          <a:p>
            <a:r>
              <a:rPr lang="en-US" altLang="zh-CN"/>
              <a:t>7. Web</a:t>
            </a:r>
            <a:r>
              <a:rPr lang="zh-CN" altLang="en-US"/>
              <a:t>应用将答案返回给用户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：问答系统重复查询优化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替代流程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上下文文档更新时：使相关缓存项失效</a:t>
            </a:r>
            <a:endParaRPr lang="zh-CN" altLang="en-US"/>
          </a:p>
          <a:p>
            <a:r>
              <a:rPr lang="zh-CN" altLang="en-US"/>
              <a:t>问题表述相似但不完全相同：执行模糊匹配或直接重新计算</a:t>
            </a:r>
            <a:endParaRPr lang="zh-CN" altLang="en-US"/>
          </a:p>
          <a:p>
            <a:r>
              <a:rPr lang="zh-CN" altLang="en-US"/>
              <a:t>缓存项被手动标记为无效：从缓存中移除并重新计算</a:t>
            </a:r>
            <a:endParaRPr lang="zh-CN" altLang="en-US"/>
          </a:p>
          <a:p>
            <a:r>
              <a:rPr lang="zh-CN" altLang="en-US"/>
              <a:t>后置条件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用户获得准确的答案</a:t>
            </a:r>
            <a:endParaRPr lang="zh-CN" altLang="en-US"/>
          </a:p>
          <a:p>
            <a:r>
              <a:rPr lang="zh-CN" altLang="en-US"/>
              <a:t>重复查询的响应时间显著降低</a:t>
            </a:r>
            <a:endParaRPr lang="zh-CN" altLang="en-US"/>
          </a:p>
          <a:p>
            <a:r>
              <a:rPr lang="zh-CN" altLang="en-US"/>
              <a:t>系统资源利用率得到优化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3</a:t>
            </a:r>
            <a:r>
              <a:rPr lang="zh-CN" altLang="en-US"/>
              <a:t>：批量处理与缓存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用例名称：批量输入缓存优化处理</a:t>
            </a:r>
            <a:endParaRPr lang="zh-CN" altLang="en-US"/>
          </a:p>
          <a:p>
            <a:r>
              <a:rPr lang="zh-CN" altLang="en-US"/>
              <a:t>参与者：用户，</a:t>
            </a:r>
            <a:r>
              <a:rPr lang="en-US" altLang="zh-CN"/>
              <a:t>CachedPipelineIterator</a:t>
            </a:r>
            <a:r>
              <a:rPr lang="zh-CN" altLang="en-US"/>
              <a:t>（缓存迭代器）、</a:t>
            </a:r>
            <a:r>
              <a:rPr lang="en-US" altLang="zh-CN"/>
              <a:t>CacheManager</a:t>
            </a:r>
            <a:r>
              <a:rPr lang="zh-CN" altLang="en-US"/>
              <a:t>（缓存管理器）、</a:t>
            </a:r>
            <a:r>
              <a:rPr lang="en-US" altLang="zh-CN"/>
              <a:t>PipelineDataset</a:t>
            </a:r>
            <a:r>
              <a:rPr lang="zh-CN" altLang="en-US"/>
              <a:t>（数据集）</a:t>
            </a:r>
            <a:endParaRPr lang="zh-CN" altLang="en-US"/>
          </a:p>
          <a:p>
            <a:r>
              <a:rPr lang="zh-CN" altLang="en-US"/>
              <a:t>前置条件</a:t>
            </a:r>
            <a:endParaRPr lang="zh-CN" altLang="en-US"/>
          </a:p>
          <a:p>
            <a:r>
              <a:rPr lang="en-US" altLang="zh-CN"/>
              <a:t>Pipelines</a:t>
            </a:r>
            <a:r>
              <a:rPr lang="zh-CN" altLang="en-US"/>
              <a:t>模块已正确安装和配置</a:t>
            </a:r>
            <a:endParaRPr lang="zh-CN" altLang="en-US"/>
          </a:p>
          <a:p>
            <a:r>
              <a:rPr lang="zh-CN" altLang="en-US"/>
              <a:t>缓存功能已启用</a:t>
            </a:r>
            <a:endParaRPr lang="zh-CN" altLang="en-US"/>
          </a:p>
          <a:p>
            <a:r>
              <a:rPr lang="zh-CN" altLang="en-US"/>
              <a:t>已创建或加载了适当的模型和</a:t>
            </a:r>
            <a:r>
              <a:rPr lang="en-US" altLang="zh-CN"/>
              <a:t>Pipeline</a:t>
            </a:r>
            <a:r>
              <a:rPr lang="zh-CN" altLang="en-US"/>
              <a:t>实例</a:t>
            </a:r>
            <a:endParaRPr lang="zh-CN" altLang="en-US"/>
          </a:p>
          <a:p>
            <a:r>
              <a:rPr lang="en-US" altLang="zh-CN"/>
              <a:t>CacheManager</a:t>
            </a:r>
            <a:r>
              <a:rPr lang="zh-CN" altLang="en-US"/>
              <a:t>已初始化并配置了合适的缓存策略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批量处理与缓存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主要流程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/>
              <a:t>1.</a:t>
            </a:r>
            <a:r>
              <a:rPr lang="zh-CN" altLang="en-US"/>
              <a:t>用户向</a:t>
            </a:r>
            <a:r>
              <a:rPr lang="en-US" altLang="zh-CN"/>
              <a:t>Pipeline</a:t>
            </a:r>
            <a:r>
              <a:rPr lang="zh-CN" altLang="en-US"/>
              <a:t>提交批量输入数据</a:t>
            </a:r>
            <a:endParaRPr lang="zh-CN" altLang="en-US"/>
          </a:p>
          <a:p>
            <a:r>
              <a:rPr lang="en-US"/>
              <a:t>2.</a:t>
            </a:r>
            <a:r>
              <a:rPr lang="en-US" altLang="zh-CN"/>
              <a:t>Pipeline</a:t>
            </a:r>
            <a:r>
              <a:rPr lang="zh-CN" altLang="en-US"/>
              <a:t>根据配置创建</a:t>
            </a:r>
            <a:r>
              <a:rPr lang="en-US" altLang="zh-CN"/>
              <a:t>CachedPipelineIterator</a:t>
            </a:r>
            <a:r>
              <a:rPr lang="zh-CN" altLang="en-US"/>
              <a:t>实例</a:t>
            </a:r>
            <a:endParaRPr lang="zh-CN" altLang="en-US"/>
          </a:p>
          <a:p>
            <a:r>
              <a:rPr lang="en-US"/>
              <a:t>3.</a:t>
            </a:r>
            <a:r>
              <a:rPr lang="zh-CN" altLang="en-US"/>
              <a:t>为每个输入项生成唯一缓存键</a:t>
            </a:r>
            <a:endParaRPr lang="zh-CN" altLang="en-US"/>
          </a:p>
          <a:p>
            <a:r>
              <a:rPr lang="en-US"/>
              <a:t>4.</a:t>
            </a:r>
            <a:r>
              <a:rPr lang="zh-CN" altLang="en-US"/>
              <a:t>对于每个输入项，查询</a:t>
            </a:r>
            <a:r>
              <a:rPr lang="en-US" altLang="zh-CN"/>
              <a:t>CacheManager</a:t>
            </a:r>
            <a:r>
              <a:rPr lang="zh-CN" altLang="en-US"/>
              <a:t>检查是否存在缓存结果。如果命中缓存，直接获取缓存结果并添加到输出列表；如果未命中缓存，将该项加入待处理队列</a:t>
            </a:r>
            <a:endParaRPr lang="zh-CN" altLang="en-US"/>
          </a:p>
          <a:p>
            <a:r>
              <a:rPr lang="en-US"/>
              <a:t>5.</a:t>
            </a:r>
            <a:r>
              <a:rPr lang="zh-CN" altLang="en-US"/>
              <a:t>对未命中缓存的输入项进行批量模型推理</a:t>
            </a:r>
            <a:endParaRPr lang="zh-CN" altLang="en-US"/>
          </a:p>
          <a:p>
            <a:r>
              <a:rPr lang="en-US"/>
              <a:t>6.</a:t>
            </a:r>
            <a:r>
              <a:rPr lang="zh-CN" altLang="en-US"/>
              <a:t>将新处理的结果存入</a:t>
            </a:r>
            <a:r>
              <a:rPr lang="en-US" altLang="zh-CN"/>
              <a:t>CacheManager</a:t>
            </a:r>
            <a:endParaRPr lang="en-US" altLang="zh-CN"/>
          </a:p>
          <a:p>
            <a:r>
              <a:rPr lang="en-US"/>
              <a:t>7.</a:t>
            </a:r>
            <a:r>
              <a:rPr lang="zh-CN" altLang="en-US"/>
              <a:t>合并缓存结果和新处理结果，保持原始输入顺序</a:t>
            </a:r>
            <a:endParaRPr lang="zh-CN" altLang="en-US"/>
          </a:p>
          <a:p>
            <a:r>
              <a:rPr lang="en-US"/>
              <a:t>8.</a:t>
            </a:r>
            <a:r>
              <a:rPr lang="zh-CN" altLang="en-US"/>
              <a:t>将完整结果返回给用</a:t>
            </a:r>
            <a:r>
              <a:rPr lang="zh-CN" altLang="en-US"/>
              <a:t>户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批量处理与缓存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替代流程</a:t>
            </a:r>
            <a:endParaRPr lang="zh-CN" altLang="en-US"/>
          </a:p>
          <a:p>
            <a:r>
              <a:rPr lang="zh-CN" altLang="en-US"/>
              <a:t>当缓存达到容量上限时，触发缓存淘汰策略，移除最不常用或最旧的缓存项</a:t>
            </a:r>
            <a:endParaRPr lang="zh-CN" altLang="en-US"/>
          </a:p>
          <a:p>
            <a:r>
              <a:rPr lang="zh-CN" altLang="en-US"/>
              <a:t>如果检测到模型或处理参数发生变化，自动使相关缓存项失效</a:t>
            </a:r>
            <a:endParaRPr lang="zh-CN" altLang="en-US"/>
          </a:p>
          <a:p>
            <a:r>
              <a:rPr lang="zh-CN" altLang="en-US"/>
              <a:t>当处理单个输入项失败时，跳过该项目并记录错误，继续处理其他项</a:t>
            </a:r>
            <a:endParaRPr lang="zh-CN" altLang="en-US"/>
          </a:p>
          <a:p>
            <a:r>
              <a:rPr lang="zh-CN" altLang="en-US"/>
              <a:t>当批量处理失败时，尝试降级到单条处理模式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后置条件</a:t>
            </a:r>
            <a:endParaRPr lang="zh-CN" altLang="en-US"/>
          </a:p>
          <a:p>
            <a:r>
              <a:rPr lang="zh-CN" altLang="en-US"/>
              <a:t>所有输入数据都被处理并返回结果（成功或失败）</a:t>
            </a:r>
            <a:endParaRPr lang="zh-CN" altLang="en-US"/>
          </a:p>
          <a:p>
            <a:r>
              <a:rPr lang="zh-CN" altLang="en-US"/>
              <a:t>新处理的结果已被缓存，以供后续使用</a:t>
            </a:r>
            <a:endParaRPr lang="zh-CN" altLang="en-US"/>
          </a:p>
          <a:p>
            <a:r>
              <a:rPr lang="zh-CN" altLang="en-US"/>
              <a:t>缓存使用情况，</a:t>
            </a:r>
            <a:r>
              <a:rPr lang="zh-CN" altLang="en-US"/>
              <a:t>性能统计数据更新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4</a:t>
            </a:r>
            <a:r>
              <a:rPr lang="zh-CN" altLang="en-US"/>
              <a:t>：缓存管理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用例名称：</a:t>
            </a:r>
            <a:r>
              <a:rPr lang="en-US" altLang="zh-CN"/>
              <a:t>Pipeline</a:t>
            </a:r>
            <a:r>
              <a:rPr lang="zh-CN" altLang="en-US"/>
              <a:t>缓存管理</a:t>
            </a:r>
            <a:endParaRPr lang="zh-CN" altLang="en-US"/>
          </a:p>
          <a:p>
            <a:r>
              <a:rPr lang="zh-CN" altLang="en-US"/>
              <a:t>参与者</a:t>
            </a:r>
            <a:r>
              <a:rPr lang="en-US" altLang="zh-CN"/>
              <a:t> </a:t>
            </a:r>
            <a:r>
              <a:rPr lang="zh-CN" altLang="en-US"/>
              <a:t>：系统管理员、用户，</a:t>
            </a:r>
            <a:r>
              <a:rPr lang="en-US" altLang="zh-CN"/>
              <a:t>CacheManager</a:t>
            </a:r>
            <a:r>
              <a:rPr lang="zh-CN" altLang="en-US"/>
              <a:t>、缓存淘汰策略组件、内存监控组件、缓存统计组件</a:t>
            </a:r>
            <a:endParaRPr lang="zh-CN" altLang="en-US"/>
          </a:p>
          <a:p>
            <a:r>
              <a:rPr lang="zh-CN" altLang="en-US"/>
              <a:t>前置条件</a:t>
            </a:r>
            <a:endParaRPr lang="zh-CN" altLang="en-US"/>
          </a:p>
          <a:p>
            <a:r>
              <a:rPr lang="en-US" altLang="zh-CN"/>
              <a:t>CacheManager</a:t>
            </a:r>
            <a:r>
              <a:rPr lang="zh-CN" altLang="en-US"/>
              <a:t>组件已初始化</a:t>
            </a:r>
            <a:endParaRPr lang="zh-CN" altLang="en-US"/>
          </a:p>
          <a:p>
            <a:r>
              <a:rPr lang="zh-CN" altLang="en-US"/>
              <a:t>系统有权限访问和修改缓存配置</a:t>
            </a:r>
            <a:endParaRPr lang="zh-CN" altLang="en-US"/>
          </a:p>
          <a:p>
            <a:r>
              <a:rPr lang="zh-CN" altLang="en-US"/>
              <a:t>存在已启用缓存功能的</a:t>
            </a:r>
            <a:r>
              <a:rPr lang="en-US" altLang="zh-CN"/>
              <a:t>Pipeline</a:t>
            </a:r>
            <a:r>
              <a:rPr lang="zh-CN" altLang="en-US"/>
              <a:t>实例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zh-CN" altLang="en-US"/>
              <a:t>缓存管理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主要流程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缓存配置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设置缓存大小限制，选择缓存淘汰策略，配置缓存有效期，</a:t>
            </a:r>
            <a:r>
              <a:rPr lang="en-US" altLang="zh-CN"/>
              <a:t> </a:t>
            </a:r>
            <a:r>
              <a:rPr lang="zh-CN" altLang="en-US"/>
              <a:t>设置缓存键生成策略</a:t>
            </a:r>
            <a:endParaRPr lang="zh-CN" altLang="en-US"/>
          </a:p>
          <a:p>
            <a:r>
              <a:rPr lang="zh-CN" altLang="en-US"/>
              <a:t>缓存监控</a:t>
            </a:r>
            <a:r>
              <a:rPr lang="en-US" altLang="zh-CN"/>
              <a:t> </a:t>
            </a:r>
            <a:r>
              <a:rPr lang="zh-CN" altLang="en-US"/>
              <a:t>：实时监控缓存命中率、缓存使用率，跟踪内存占用情况，记录缓存操作日志</a:t>
            </a:r>
            <a:endParaRPr lang="zh-CN" altLang="en-US"/>
          </a:p>
          <a:p>
            <a:r>
              <a:rPr lang="zh-CN" altLang="en-US"/>
              <a:t>缓存维护</a:t>
            </a:r>
            <a:r>
              <a:rPr lang="en-US" altLang="zh-CN"/>
              <a:t> </a:t>
            </a:r>
            <a:r>
              <a:rPr lang="zh-CN" altLang="en-US"/>
              <a:t>：定期清理过期缓存项，根据淘汰策略移除不活跃缓存项，合并相似缓存项</a:t>
            </a:r>
            <a:endParaRPr lang="zh-CN" altLang="en-US"/>
          </a:p>
          <a:p>
            <a:r>
              <a:rPr lang="zh-CN" altLang="en-US"/>
              <a:t>缓存更新</a:t>
            </a:r>
            <a:r>
              <a:rPr lang="en-US" altLang="zh-CN"/>
              <a:t> </a:t>
            </a:r>
            <a:r>
              <a:rPr lang="zh-CN" altLang="en-US"/>
              <a:t>：当模型更新时，选择性地使相关缓存失效，支持手动刷新或重置缓存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用例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zh-CN" altLang="en-US"/>
              <a:t>缓存管理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替代流程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缓存紧急清理</a:t>
            </a:r>
            <a:r>
              <a:rPr lang="en-US" altLang="zh-CN"/>
              <a:t> </a:t>
            </a:r>
            <a:r>
              <a:rPr lang="zh-CN" altLang="en-US"/>
              <a:t>：当系统内存不足时，自动触发紧急清理流程，释放更多缓存空间</a:t>
            </a:r>
            <a:endParaRPr lang="zh-CN" altLang="en-US"/>
          </a:p>
          <a:p>
            <a:r>
              <a:rPr lang="zh-CN" altLang="en-US"/>
              <a:t>在多实例环境下，协调多个实例间的缓存状态</a:t>
            </a:r>
            <a:endParaRPr lang="zh-CN" altLang="en-US"/>
          </a:p>
          <a:p>
            <a:r>
              <a:rPr lang="zh-CN" altLang="en-US"/>
              <a:t>为不同类型的任务或不同用户设置独立的缓存空间</a:t>
            </a:r>
            <a:endParaRPr lang="zh-CN" altLang="en-US"/>
          </a:p>
          <a:p>
            <a:r>
              <a:rPr lang="zh-CN" altLang="en-US"/>
              <a:t>后置条件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缓存系统稳定运行，性能符合预期</a:t>
            </a:r>
            <a:endParaRPr lang="zh-CN" altLang="en-US"/>
          </a:p>
          <a:p>
            <a:r>
              <a:rPr lang="zh-CN" altLang="en-US"/>
              <a:t>内存使用在安全范围内</a:t>
            </a:r>
            <a:endParaRPr lang="zh-CN" altLang="en-US"/>
          </a:p>
          <a:p>
            <a:r>
              <a:rPr lang="zh-CN" altLang="en-US"/>
              <a:t>缓存操作的日志记录完整，可用于故障排查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扩展点围绕</a:t>
            </a:r>
            <a:r>
              <a:rPr lang="en-US" altLang="zh-CN"/>
              <a:t> Hugging Face Transformers </a:t>
            </a:r>
            <a:r>
              <a:rPr lang="zh-CN" altLang="en-US"/>
              <a:t>库中的</a:t>
            </a:r>
            <a:r>
              <a:rPr lang="en-US" altLang="zh-CN"/>
              <a:t> Pipelines </a:t>
            </a:r>
            <a:r>
              <a:rPr lang="zh-CN" altLang="en-US"/>
              <a:t>模块，提出了基于缓存机制的迭代器优化方案。</a:t>
            </a:r>
            <a:r>
              <a:rPr lang="zh-CN" altLang="en-US"/>
              <a:t>希望通过设计并实现</a:t>
            </a:r>
            <a:r>
              <a:rPr lang="en-US" altLang="zh-CN"/>
              <a:t> CachedPipelineIterator </a:t>
            </a:r>
            <a:r>
              <a:rPr lang="zh-CN" altLang="en-US"/>
              <a:t>类，在不改变现有</a:t>
            </a:r>
            <a:r>
              <a:rPr lang="en-US" altLang="zh-CN"/>
              <a:t> API </a:t>
            </a:r>
            <a:r>
              <a:rPr lang="zh-CN" altLang="en-US"/>
              <a:t>的前提下，提升重复输入场景下的处理效率，优化内存与计算资源的使用。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3068</Words>
  <Application>WPS 演示</Application>
  <PresentationFormat>宽屏</PresentationFormat>
  <Paragraphs>169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面向对象程序设计 第一次汇报</vt:lpstr>
      <vt:lpstr>项目和模块选择</vt:lpstr>
      <vt:lpstr>扩展点：缓存优化实现</vt:lpstr>
      <vt:lpstr>需求分析与建模</vt:lpstr>
      <vt:lpstr>需求分析与建模</vt:lpstr>
      <vt:lpstr>用例分析1：文本分类批处理优化</vt:lpstr>
      <vt:lpstr>用例分析1：文本分类批处理优化</vt:lpstr>
      <vt:lpstr>用例分析1：文本分类批处理优化</vt:lpstr>
      <vt:lpstr>用例2：问答系统重复查询优化</vt:lpstr>
      <vt:lpstr>用例2：问答系统重复查询优化</vt:lpstr>
      <vt:lpstr>用例2：问答系统重复查询优化</vt:lpstr>
      <vt:lpstr>用例3：批量处理与缓存</vt:lpstr>
      <vt:lpstr>用例3：批量处理与缓存</vt:lpstr>
      <vt:lpstr>用例3：批量处理与缓存</vt:lpstr>
      <vt:lpstr>用例4：缓存管理</vt:lpstr>
      <vt:lpstr>用例4：缓存管理</vt:lpstr>
      <vt:lpstr>用例4：缓存管理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Alpha-BlueIce</cp:lastModifiedBy>
  <cp:revision>255</cp:revision>
  <dcterms:created xsi:type="dcterms:W3CDTF">2019-06-19T02:08:00Z</dcterms:created>
  <dcterms:modified xsi:type="dcterms:W3CDTF">2025-10-30T03:04:44Z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498AEC0123F24DE78D89F1B5A3FCC1D9_11</vt:lpwstr>
  </property>
</Properties>
</file>